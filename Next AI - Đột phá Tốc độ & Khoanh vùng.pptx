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875" y="571500"/>
            <a:ext cx="2809875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304925"/>
            <a:ext cx="3619500" cy="6019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1304925"/>
            <a:ext cx="7381875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875" y="3829050"/>
            <a:ext cx="7381875" cy="3495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8162" y="1581150"/>
            <a:ext cx="3309937" cy="1762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525" y="3077467"/>
            <a:ext cx="1136005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7687" y="1590675"/>
            <a:ext cx="3290887" cy="1743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0631" y="1509712"/>
            <a:ext cx="1905000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7650" y="4457700"/>
            <a:ext cx="3600450" cy="2619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81525" y="4457700"/>
            <a:ext cx="3048000" cy="1171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81525" y="5772150"/>
            <a:ext cx="3048000" cy="1000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759" y="4030414"/>
            <a:ext cx="432048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6250" y="381000"/>
            <a:ext cx="86010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F8FAFC"/>
                </a:solidFill>
                <a:latin typeface="Inter ExtraBold"/>
              </a:rPr>
              <a:t>Next AI: Tự Động Phân Tích &amp; Khoanh Vùng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1581150"/>
            <a:ext cx="31242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RAW DATA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4105275"/>
            <a:ext cx="6886575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ACTIONABLE OUTPUT DASHBOARD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09651" y="1581150"/>
            <a:ext cx="1638448" cy="381000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23900" y="2152650"/>
          <a:ext cx="3124198" cy="4924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59035"/>
                <a:gridCol w="624780"/>
                <a:gridCol w="1405830"/>
                <a:gridCol w="234553"/>
              </a:tblGrid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TIMESTAMP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EVENT_ID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DIMENSIONS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64748B"/>
                          </a:solidFill>
                          <a:latin typeface="JetBrains Mono SemiBold"/>
                        </a:rPr>
                        <a:t>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12:54:31.02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EV_8XF2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[OS:iOS, Ver:17.4]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12:54:31.15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EV_9A4C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[OS:And, Ver:14.0]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12:54:31.42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EV_2B19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[Geo:VN, ISP:VNPT]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12:54:32.05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EV_ERR7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[OS:iOS, App:v2.1]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12:54:32.11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EV_8XF2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[OS:iOS, Ver:17.3]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12:54:32.33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EV_ERR7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[OS:iOS, App:v2.1]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12:54:32.40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EV_1C90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[Geo:SG, ISP:Sing]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12:54:32.88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EV_8XF2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[OS:Win, Ver:11.0]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12:54:33.02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EV_ERR7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[OS:iOS, App:v2.1]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503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12:54:33.15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EV_3M55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[Device:Tablet]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12:54:33.45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EV_ERR7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[OS:iOS, App:v2.1]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F87171"/>
                          </a:solidFill>
                          <a:latin typeface="JetBrains Mono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12:54:33.70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EV_8XF2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[OS:Mac, Ver:14.2]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12:54:34.01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EV_9A4C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[OS:And, Ver:13.0]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CBD5E1"/>
                          </a:solidFill>
                          <a:latin typeface="JetBrains Mono"/>
                        </a:rPr>
                        <a:t>200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12:54:34.12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EV_ERR7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[OS:iOS, App:v2.1]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825" i="0" u="none">
                          <a:solidFill>
                            <a:srgbClr val="94A3B8"/>
                          </a:solidFill>
                          <a:latin typeface="JetBrains Mono"/>
                        </a:rPr>
                        <a:t>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81525" y="1447055"/>
            <a:ext cx="3290887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Inter"/>
              </a:rPr>
              <a:t>NEXT 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525" y="1656605"/>
            <a:ext cx="3455431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E9D5FF"/>
                </a:solidFill>
                <a:latin typeface="Inter"/>
              </a:rPr>
              <a:t>Real-time Pattern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525" y="2247155"/>
            <a:ext cx="3290887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94A3B8"/>
                </a:solidFill>
                <a:latin typeface="Inter"/>
              </a:rPr>
              <a:t>Tự động quét chéo hàng triệu tổ hợp dữ liệu, cô lập các mẫu (patterns) dị thường vượt ngưỡng tiêu chuẩn mà không cần thiết lập thủ công.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" y="239553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82935" y="239553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07716" y="239553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13546" y="239553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3925" y="3221831"/>
            <a:ext cx="831205" cy="1461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067675" y="4657725"/>
            <a:ext cx="3200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Inter SemiBold"/>
              </a:rPr>
              <a:t>LIVE HEATMAP (OS x APP_VER)</a:t>
            </a:r>
            <a:r>
              <a:rPr b="0" sz="900" i="0" u="none">
                <a:solidFill>
                  <a:srgbClr val="94A3B8"/>
                </a:solidFill>
                <a:latin typeface="Inter SemiBold"/>
              </a:rPr>
              <a:t> </a:t>
            </a:r>
            <a:r>
              <a:rPr b="0" sz="900" i="0" u="none">
                <a:solidFill>
                  <a:srgbClr val="EF4444"/>
                </a:solidFill>
                <a:latin typeface="Inter SemiBold"/>
              </a:rPr>
              <a:t>[FILTER APPLIED]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900" y="272891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2935" y="272891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07716" y="272891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13546" y="272891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23900" y="306228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82935" y="306228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07716" y="306228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13546" y="306228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3900" y="339566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82935" y="339566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07716" y="339566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13546" y="339566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3900" y="372903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82935" y="372903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07716" y="372903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13546" y="372903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3900" y="406241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582935" y="406241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07716" y="406241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13546" y="406241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3900" y="439578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2935" y="439578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07716" y="439578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13546" y="439578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3900" y="472916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82935" y="472916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07716" y="472916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13546" y="472916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3900" y="506253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82935" y="506253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07716" y="506253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13546" y="506253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23900" y="539591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82935" y="539591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07716" y="539591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613546" y="539591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3900" y="572928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82935" y="572928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207716" y="572928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13546" y="572928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23900" y="606266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582935" y="606266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07716" y="606266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13546" y="606266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3900" y="639603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82935" y="639603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07716" y="639603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613546" y="639603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23900" y="6729412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82935" y="6729412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07716" y="6729412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613546" y="6729412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" y="7062787"/>
            <a:ext cx="85903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582935" y="7062787"/>
            <a:ext cx="62478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07716" y="7062787"/>
            <a:ext cx="140583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613546" y="7062787"/>
            <a:ext cx="23455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72025" y="4648200"/>
            <a:ext cx="990600" cy="17145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4772025" y="4895850"/>
            <a:ext cx="26955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Inter SemiBold"/>
              </a:rPr>
              <a:t>Top 1: [OS:iOS] + [App:v2.1]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72025" y="5133975"/>
            <a:ext cx="2695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Z-Score: </a:t>
            </a:r>
            <a:r>
              <a:rPr b="1" sz="975" i="0" u="none">
                <a:solidFill>
                  <a:srgbClr val="CBD5E1"/>
                </a:solidFill>
                <a:latin typeface="JetBrains Mono"/>
              </a:rPr>
              <a:t>+5.8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| Lift: </a:t>
            </a:r>
            <a:r>
              <a:rPr b="1" sz="975" i="0" u="none">
                <a:solidFill>
                  <a:srgbClr val="CBD5E1"/>
                </a:solidFill>
                <a:latin typeface="JetBrains Mono"/>
              </a:rPr>
              <a:t>14.2x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72025" y="5334000"/>
            <a:ext cx="26955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EF4444"/>
                </a:solidFill>
                <a:latin typeface="JetBrains Mono"/>
              </a:rPr>
              <a:t>[CLICK TO SYNC FILTER]</a:t>
            </a:r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72025" y="5962650"/>
            <a:ext cx="647700" cy="17145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772025" y="6210300"/>
            <a:ext cx="26955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F8FAFC"/>
                </a:solidFill>
                <a:latin typeface="Inter SemiBold"/>
              </a:rPr>
              <a:t>Top 2: [ISP:Viettel] + [Geo:HN]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72025" y="6448425"/>
            <a:ext cx="2695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Z-Score: </a:t>
            </a:r>
            <a:r>
              <a:rPr b="1" sz="975" i="0" u="none">
                <a:solidFill>
                  <a:srgbClr val="CBD5E1"/>
                </a:solidFill>
                <a:latin typeface="JetBrains Mono"/>
              </a:rPr>
              <a:t>+3.2</a:t>
            </a:r>
            <a:r>
              <a:rPr b="0" sz="975" i="0" u="none">
                <a:solidFill>
                  <a:srgbClr val="94A3B8"/>
                </a:solidFill>
                <a:latin typeface="JetBrains Mono"/>
              </a:rPr>
              <a:t> | Lift: </a:t>
            </a:r>
            <a:r>
              <a:rPr b="1" sz="975" i="0" u="none">
                <a:solidFill>
                  <a:srgbClr val="CBD5E1"/>
                </a:solidFill>
                <a:latin typeface="JetBrains Mono"/>
              </a:rPr>
              <a:t>4.5x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067675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337500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607325" y="494347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877300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9147125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416950" y="494347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686925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9956750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226575" y="494347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496550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766375" y="494347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1036200" y="494347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067675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337500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607325" y="527208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877300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9147125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9416950" y="527208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9686925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956750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0226575" y="527208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496550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0766375" y="527208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1036200" y="527208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067675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337500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607325" y="5600700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877300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147125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9416950" y="5600700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9686925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991B1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9956750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EF4444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226575" y="5600700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991B1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0496550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0766375" y="5600700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1036200" y="5600700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8067675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337500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8607325" y="5929312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8877300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147125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9416950" y="5929312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9686925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B4530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9956750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991B1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226575" y="5929312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B45309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10496550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10766375" y="5929312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036200" y="5929312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8067675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8337500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8607325" y="625792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8877300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9147125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9416950" y="625792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9686925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9956750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0226575" y="625792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10496550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10766375" y="6257925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11036200" y="6257925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8067675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8337500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8607325" y="658653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8877300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9147125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9416950" y="658653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9686925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064E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9956750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0226575" y="658653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10496550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66534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10766375" y="6586537"/>
            <a:ext cx="231725" cy="290512"/>
          </a:xfrm>
          <a:prstGeom prst="roundRect">
            <a:avLst>
              <a:gd name="adj" fmla="val 12331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11036200" y="6586537"/>
            <a:ext cx="231874" cy="290512"/>
          </a:xfrm>
          <a:prstGeom prst="roundRect">
            <a:avLst>
              <a:gd name="adj" fmla="val 12323"/>
            </a:avLst>
          </a:prstGeom>
          <a:solidFill>
            <a:srgbClr val="1E293B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67687" y="1590675"/>
            <a:ext cx="3290887" cy="1743075"/>
          </a:xfrm>
          <a:prstGeom prst="rect">
            <a:avLst/>
          </a:prstGeom>
        </p:spPr>
      </p:pic>
      <p:pic>
        <p:nvPicPr>
          <p:cNvPr id="165" name="Picture 16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43400" y="3867150"/>
            <a:ext cx="7362825" cy="3448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