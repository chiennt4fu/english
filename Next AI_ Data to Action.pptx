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104900"/>
            <a:ext cx="6181725" cy="6572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75" y="1104900"/>
            <a:ext cx="4676775" cy="1181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975" y="2667000"/>
            <a:ext cx="4676775" cy="5010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114425"/>
            <a:ext cx="6162675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0" y="1114425"/>
            <a:ext cx="4657725" cy="1162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5880" y="490266"/>
            <a:ext cx="9002964" cy="242941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7100" y="5267325"/>
            <a:ext cx="4200525" cy="138291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7100" y="3295650"/>
            <a:ext cx="4200525" cy="609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7100" y="4019550"/>
            <a:ext cx="4200525" cy="4476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7100" y="4581525"/>
            <a:ext cx="4200525" cy="4476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6861" y="3438525"/>
            <a:ext cx="598735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1797" y="3438525"/>
            <a:ext cx="450502" cy="3238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8500" y="3438525"/>
            <a:ext cx="457200" cy="3238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9775" y="4148137"/>
            <a:ext cx="6381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44150" y="4148137"/>
            <a:ext cx="4476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68025" y="4148137"/>
            <a:ext cx="4476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20250" y="4710112"/>
            <a:ext cx="6096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06050" y="4710112"/>
            <a:ext cx="4762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58500" y="4710112"/>
            <a:ext cx="4572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5775" y="5953125"/>
            <a:ext cx="6162675" cy="1714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6250" y="381000"/>
            <a:ext cx="11715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NEXT AI: </a:t>
            </a:r>
            <a:r>
              <a:rPr b="1" sz="2850" i="0" u="none">
                <a:solidFill>
                  <a:srgbClr val="38BDF8"/>
                </a:solidFill>
                <a:latin typeface="Inter"/>
              </a:rPr>
              <a:t>TRÍ TUỆ ĐỊNH HƯỚNG HÀNH ĐỘNG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0" y="2905125"/>
            <a:ext cx="39528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Inter SemiBold"/>
              </a:rPr>
              <a:t>Actionable Insights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175" y="1257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8675" y="1257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9175" y="1257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4925" y="1228725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 SemiBold"/>
              </a:rPr>
              <a:t>RAW_DATA_LAKE_PROD // ACTIVE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85775" y="1504950"/>
          <a:ext cx="6162669" cy="6162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620910"/>
                <a:gridCol w="487263"/>
                <a:gridCol w="554087"/>
                <a:gridCol w="687883"/>
                <a:gridCol w="353466"/>
                <a:gridCol w="420290"/>
                <a:gridCol w="754707"/>
                <a:gridCol w="420290"/>
                <a:gridCol w="420290"/>
                <a:gridCol w="821680"/>
                <a:gridCol w="621803"/>
              </a:tblGrid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Cell_ID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EQ1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CH1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SW_Ver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LM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Mat_Lot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NG_Code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C8921A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C8922B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SW26.07.1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LOT-A-2201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C8923A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08:12:46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C8924C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08:12:46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C8925A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08:12:47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C8926B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08:12:48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SW26.07.1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LOT-A-2202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C8927A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08:12:48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C8928D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08:12:49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SW26.06.3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LOT-C-1101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C8929A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08:12:49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C8930B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SW26.07.1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LOT-A-2201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C8931C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08:12:51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C8932A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08:12:52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C8933B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08:12:52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SW26.07.1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LOT-A-2202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C8934A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C8935D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08:12:54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SW26.06.3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LOT-C-1101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C8936A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08:12:54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4351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C8937C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08:12:55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4357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C8938A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A1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LINE17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08:12:56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EQ3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CH03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SW26.08.2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LM-2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LS-8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LOT-B-3103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97316"/>
                          </a:solidFill>
                          <a:latin typeface="JetBrains Mono SemiBold"/>
                        </a:rPr>
                        <a:t>NG07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77100" y="2919412"/>
            <a:ext cx="152400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39025" y="5830192"/>
            <a:ext cx="1524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 Medium"/>
              </a:rPr>
              <a:t>Dynamic Mini Heatmap Grid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82200" y="542925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56490" y="542925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530780" y="542925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805070" y="542925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079360" y="542925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82200" y="570354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30780" y="570354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805070" y="570354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079360" y="570354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82200" y="597783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256490" y="597783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530780" y="597783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805070" y="597783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079360" y="597783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82200" y="625212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56490" y="625212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530780" y="625212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805070" y="625212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079360" y="625212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9025" y="3419475"/>
            <a:ext cx="232872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Top 1:</a:t>
            </a:r>
            <a:r>
              <a:rPr b="0" sz="1050" i="0" u="none">
                <a:solidFill>
                  <a:srgbClr val="E2E8F0"/>
                </a:solidFill>
                <a:latin typeface="Inter SemiBold"/>
              </a:rPr>
              <a:t> Thiết bị LM-2 × LOT-B-3103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39025" y="4143375"/>
            <a:ext cx="1830228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Top 2:</a:t>
            </a:r>
            <a:r>
              <a:rPr b="0" sz="1050" i="0" u="none">
                <a:solidFill>
                  <a:srgbClr val="E2E8F0"/>
                </a:solidFill>
                <a:latin typeface="Inter SemiBold"/>
              </a:rPr>
              <a:t> SW26.08.2 × CH06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39025" y="4705350"/>
            <a:ext cx="142017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Top 3:</a:t>
            </a:r>
            <a:r>
              <a:rPr b="0" sz="1050" i="0" u="none">
                <a:solidFill>
                  <a:srgbClr val="E2E8F0"/>
                </a:solidFill>
                <a:latin typeface="Inter SemiBold"/>
              </a:rPr>
              <a:t> EQ3 × LINE17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34550" y="5890468"/>
            <a:ext cx="114300" cy="13335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07216" y="1400175"/>
            <a:ext cx="234029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/>
            </a:pPr>
            <a:r>
              <a:rPr b="1" sz="2100" i="0" u="none">
                <a:solidFill>
                  <a:srgbClr val="38BDF8"/>
                </a:solidFill>
                <a:latin typeface="Inter"/>
              </a:rPr>
              <a:t>NEXT AI CORE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8162" y="1800225"/>
            <a:ext cx="2438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Inter Medium"/>
              </a:rPr>
              <a:t>Auto Anomaly &amp; Pattern Detection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56490" y="5703540"/>
            <a:ext cx="236190" cy="236190"/>
          </a:xfrm>
          <a:prstGeom prst="roundRect">
            <a:avLst>
              <a:gd name="adj" fmla="val 8065"/>
            </a:avLst>
          </a:prstGeom>
          <a:solidFill>
            <a:srgbClr val="EF4444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485775" y="1824037"/>
            <a:ext cx="6209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06685" y="1824037"/>
            <a:ext cx="4872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93949" y="1824037"/>
            <a:ext cx="5540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148036" y="1824037"/>
            <a:ext cx="6878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35919" y="1824037"/>
            <a:ext cx="35346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189386" y="1824037"/>
            <a:ext cx="4202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09677" y="1824037"/>
            <a:ext cx="7547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64384" y="1824037"/>
            <a:ext cx="4202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784675" y="1824037"/>
            <a:ext cx="4202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04966" y="1824037"/>
            <a:ext cx="8216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26646" y="1824037"/>
            <a:ext cx="6218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